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uppieren 113">
            <a:extLst>
              <a:ext uri="{FF2B5EF4-FFF2-40B4-BE49-F238E27FC236}">
                <a16:creationId xmlns:a16="http://schemas.microsoft.com/office/drawing/2014/main" id="{F8DDD3B9-6C87-4DD3-E06D-C43191370E38}"/>
              </a:ext>
            </a:extLst>
          </p:cNvPr>
          <p:cNvGrpSpPr/>
          <p:nvPr/>
        </p:nvGrpSpPr>
        <p:grpSpPr>
          <a:xfrm>
            <a:off x="411480" y="137160"/>
            <a:ext cx="11413157" cy="5998464"/>
            <a:chOff x="411480" y="137160"/>
            <a:chExt cx="11413157" cy="5998464"/>
          </a:xfrm>
        </p:grpSpPr>
        <p:sp>
          <p:nvSpPr>
            <p:cNvPr id="2" name="TextBox 1"/>
            <p:cNvSpPr txBox="1"/>
            <p:nvPr/>
          </p:nvSpPr>
          <p:spPr>
            <a:xfrm>
              <a:off x="411480" y="137160"/>
              <a:ext cx="11338560" cy="4114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sz="2400" b="1" i="0" dirty="0" err="1">
                  <a:solidFill>
                    <a:srgbClr val="1F4E79"/>
                  </a:solidFill>
                  <a:latin typeface="Aptos"/>
                </a:rPr>
                <a:t>Datenstrukturen</a:t>
              </a:r>
              <a:r>
                <a:rPr sz="2400" b="1" i="0" dirty="0">
                  <a:solidFill>
                    <a:srgbClr val="1F4E79"/>
                  </a:solidFill>
                  <a:latin typeface="Aptos"/>
                </a:rPr>
                <a:t> in R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11480" y="658368"/>
              <a:ext cx="2743200" cy="32004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800" b="1" i="0">
                  <a:solidFill>
                    <a:srgbClr val="232323"/>
                  </a:solidFill>
                  <a:latin typeface="Aptos"/>
                </a:rPr>
                <a:t>Vektor (1D)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1051560" y="978408"/>
              <a:ext cx="1508760" cy="0"/>
            </a:xfrm>
            <a:prstGeom prst="line">
              <a:avLst/>
            </a:prstGeom>
            <a:ln w="16510">
              <a:solidFill>
                <a:srgbClr val="376E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640080" y="1143000"/>
              <a:ext cx="457200" cy="384048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0080" y="1581912"/>
              <a:ext cx="457200" cy="219456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100" b="0" i="0">
                  <a:solidFill>
                    <a:srgbClr val="232323"/>
                  </a:solidFill>
                  <a:latin typeface="Aptos"/>
                </a:rPr>
                <a:t>[1]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152144" y="1143000"/>
              <a:ext cx="457200" cy="384048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52144" y="1581912"/>
              <a:ext cx="457200" cy="219456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100" b="0" i="0">
                  <a:solidFill>
                    <a:srgbClr val="232323"/>
                  </a:solidFill>
                  <a:latin typeface="Aptos"/>
                </a:rPr>
                <a:t>[2]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664208" y="1143000"/>
              <a:ext cx="457200" cy="384048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664208" y="1581912"/>
              <a:ext cx="457200" cy="219456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100" b="0" i="0">
                  <a:solidFill>
                    <a:srgbClr val="232323"/>
                  </a:solidFill>
                  <a:latin typeface="Aptos"/>
                </a:rPr>
                <a:t>[3]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176272" y="1143000"/>
              <a:ext cx="457200" cy="384048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76272" y="1581912"/>
              <a:ext cx="457200" cy="219456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100" b="0" i="0">
                  <a:solidFill>
                    <a:srgbClr val="232323"/>
                  </a:solidFill>
                  <a:latin typeface="Aptos"/>
                </a:rPr>
                <a:t>[4]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688336" y="1143000"/>
              <a:ext cx="457200" cy="384048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88336" y="1581912"/>
              <a:ext cx="457200" cy="219456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100" b="0" i="0">
                  <a:solidFill>
                    <a:srgbClr val="232323"/>
                  </a:solidFill>
                  <a:latin typeface="Aptos"/>
                </a:rPr>
                <a:t>[5]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920" y="1783080"/>
              <a:ext cx="2560320" cy="32004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200" b="0" i="0">
                  <a:solidFill>
                    <a:srgbClr val="5F5F5F"/>
                  </a:solidFill>
                  <a:latin typeface="Aptos"/>
                </a:rPr>
                <a:t>Elemente eines eindimensionalen Vektors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03320" y="658368"/>
              <a:ext cx="2743200" cy="32004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800" b="1" i="0">
                  <a:solidFill>
                    <a:srgbClr val="232323"/>
                  </a:solidFill>
                  <a:latin typeface="Aptos"/>
                </a:rPr>
                <a:t>Matrix (2D)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4315968" y="978408"/>
              <a:ext cx="1490472" cy="0"/>
            </a:xfrm>
            <a:prstGeom prst="line">
              <a:avLst/>
            </a:prstGeom>
            <a:ln w="16510">
              <a:solidFill>
                <a:srgbClr val="376E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4381902" y="1097280"/>
              <a:ext cx="502920" cy="50292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232323"/>
                  </a:solidFill>
                  <a:latin typeface="Aptos"/>
                </a:rPr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884822" y="1097280"/>
              <a:ext cx="502920" cy="50292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232323"/>
                  </a:solidFill>
                  <a:latin typeface="Aptos"/>
                </a:rPr>
                <a:t>2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87742" y="1097280"/>
              <a:ext cx="502920" cy="50292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232323"/>
                  </a:solidFill>
                  <a:latin typeface="Aptos"/>
                </a:rPr>
                <a:t>3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381902" y="1600200"/>
              <a:ext cx="502920" cy="50292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232323"/>
                  </a:solidFill>
                  <a:latin typeface="Aptos"/>
                </a:rPr>
                <a:t>4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84822" y="1600200"/>
              <a:ext cx="502920" cy="50292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232323"/>
                  </a:solidFill>
                  <a:latin typeface="Aptos"/>
                </a:rPr>
                <a:t>5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387742" y="1600200"/>
              <a:ext cx="502920" cy="50292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232323"/>
                  </a:solidFill>
                  <a:latin typeface="Aptos"/>
                </a:rPr>
                <a:t>6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381902" y="2103120"/>
              <a:ext cx="502920" cy="50292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232323"/>
                  </a:solidFill>
                  <a:latin typeface="Aptos"/>
                </a:rPr>
                <a:t>7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884822" y="2103120"/>
              <a:ext cx="502920" cy="50292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232323"/>
                  </a:solidFill>
                  <a:latin typeface="Aptos"/>
                </a:rPr>
                <a:t>8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387742" y="2103120"/>
              <a:ext cx="502920" cy="50292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232323"/>
                  </a:solidFill>
                  <a:latin typeface="Aptos"/>
                </a:rPr>
                <a:t>9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969830" y="1458227"/>
              <a:ext cx="1188720" cy="32004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sz="1200" b="1" i="0" dirty="0" err="1">
                  <a:solidFill>
                    <a:srgbClr val="5F5F5F"/>
                  </a:solidFill>
                  <a:latin typeface="Aptos"/>
                </a:rPr>
                <a:t>Zeilen</a:t>
              </a:r>
              <a:endParaRPr sz="1200" b="1" i="0" dirty="0">
                <a:solidFill>
                  <a:srgbClr val="5F5F5F"/>
                </a:solidFill>
                <a:latin typeface="Apto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290462" y="2660904"/>
              <a:ext cx="1280160" cy="2743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200" b="1" i="0" dirty="0" err="1">
                  <a:solidFill>
                    <a:srgbClr val="5F5F5F"/>
                  </a:solidFill>
                  <a:latin typeface="Aptos"/>
                </a:rPr>
                <a:t>Spalten</a:t>
              </a:r>
              <a:endParaRPr sz="1200" b="1" i="0" dirty="0">
                <a:solidFill>
                  <a:srgbClr val="5F5F5F"/>
                </a:solidFill>
                <a:latin typeface="Aptos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55279" y="658368"/>
              <a:ext cx="2743200" cy="32004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800" b="1" i="0">
                  <a:solidFill>
                    <a:srgbClr val="232323"/>
                  </a:solidFill>
                  <a:latin typeface="Aptos"/>
                </a:rPr>
                <a:t>Array (nD)</a:t>
              </a:r>
            </a:p>
          </p:txBody>
        </p:sp>
        <p:cxnSp>
          <p:nvCxnSpPr>
            <p:cNvPr id="30" name="Connector 29"/>
            <p:cNvCxnSpPr/>
            <p:nvPr/>
          </p:nvCxnSpPr>
          <p:spPr>
            <a:xfrm>
              <a:off x="8641080" y="978408"/>
              <a:ext cx="1371600" cy="0"/>
            </a:xfrm>
            <a:prstGeom prst="line">
              <a:avLst/>
            </a:prstGeom>
            <a:ln w="16510">
              <a:solidFill>
                <a:srgbClr val="376E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8540496" y="1085970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951976" y="1085970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363456" y="1085970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540496" y="1497450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951976" y="1497450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363456" y="1497450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540496" y="1908930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951976" y="1908930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9363456" y="1908930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385048" y="1241418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8796528" y="1241418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9208008" y="1241418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385048" y="1652898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796528" y="1652898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208008" y="1652898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385048" y="2064378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8796528" y="2064378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9208008" y="2064378"/>
              <a:ext cx="411480" cy="41148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229600" y="1396866"/>
              <a:ext cx="411480" cy="41148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641080" y="1396866"/>
              <a:ext cx="411480" cy="41148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9052560" y="1396866"/>
              <a:ext cx="411480" cy="41148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229600" y="1808346"/>
              <a:ext cx="411480" cy="41148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8641080" y="1808346"/>
              <a:ext cx="411480" cy="41148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052560" y="1808346"/>
              <a:ext cx="411480" cy="41148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229600" y="2219826"/>
              <a:ext cx="411480" cy="41148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8641080" y="2219826"/>
              <a:ext cx="411480" cy="41148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9052560" y="2219826"/>
              <a:ext cx="411480" cy="411480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957816" y="1301817"/>
              <a:ext cx="1463040" cy="7315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sz="1100" b="0" i="0" dirty="0">
                  <a:solidFill>
                    <a:srgbClr val="5F5F5F"/>
                  </a:solidFill>
                  <a:latin typeface="Aptos"/>
                </a:rPr>
                <a:t>z. B. 3D:
</a:t>
              </a:r>
              <a:r>
                <a:rPr sz="1100" b="0" i="0" dirty="0" err="1">
                  <a:solidFill>
                    <a:srgbClr val="5F5F5F"/>
                  </a:solidFill>
                  <a:latin typeface="Aptos"/>
                </a:rPr>
                <a:t>Zeilen</a:t>
              </a:r>
              <a:r>
                <a:rPr sz="1100" b="0" i="0" dirty="0">
                  <a:solidFill>
                    <a:srgbClr val="5F5F5F"/>
                  </a:solidFill>
                  <a:latin typeface="Aptos"/>
                </a:rPr>
                <a:t> × </a:t>
              </a:r>
              <a:r>
                <a:rPr sz="1100" b="0" i="0" dirty="0" err="1">
                  <a:solidFill>
                    <a:srgbClr val="5F5F5F"/>
                  </a:solidFill>
                  <a:latin typeface="Aptos"/>
                </a:rPr>
                <a:t>Spalten</a:t>
              </a:r>
              <a:r>
                <a:rPr sz="1100" b="0" i="0" dirty="0">
                  <a:solidFill>
                    <a:srgbClr val="5F5F5F"/>
                  </a:solidFill>
                  <a:latin typeface="Aptos"/>
                </a:rPr>
                <a:t> × </a:t>
              </a:r>
              <a:r>
                <a:rPr sz="1100" b="0" i="0" dirty="0" err="1">
                  <a:solidFill>
                    <a:srgbClr val="5F5F5F"/>
                  </a:solidFill>
                  <a:latin typeface="Aptos"/>
                </a:rPr>
                <a:t>Tiefe</a:t>
              </a:r>
              <a:endParaRPr sz="1100" b="0" i="0" dirty="0">
                <a:solidFill>
                  <a:srgbClr val="5F5F5F"/>
                </a:solidFill>
                <a:latin typeface="Aptos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092440" y="2651760"/>
              <a:ext cx="3017520" cy="301752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100" b="0" i="0" dirty="0">
                  <a:solidFill>
                    <a:srgbClr val="5F5F5F"/>
                  </a:solidFill>
                  <a:latin typeface="Aptos"/>
                </a:rPr>
                <a:t>Arrays </a:t>
              </a:r>
              <a:r>
                <a:rPr sz="1100" b="0" i="0" dirty="0" err="1">
                  <a:solidFill>
                    <a:srgbClr val="5F5F5F"/>
                  </a:solidFill>
                  <a:latin typeface="Aptos"/>
                </a:rPr>
                <a:t>können</a:t>
              </a:r>
              <a:r>
                <a:rPr sz="1100" b="0" i="0" dirty="0">
                  <a:solidFill>
                    <a:srgbClr val="5F5F5F"/>
                  </a:solidFill>
                  <a:latin typeface="Aptos"/>
                </a:rPr>
                <a:t> </a:t>
              </a:r>
              <a:r>
                <a:rPr sz="1100" b="0" i="0" dirty="0" err="1">
                  <a:solidFill>
                    <a:srgbClr val="5F5F5F"/>
                  </a:solidFill>
                  <a:latin typeface="Aptos"/>
                </a:rPr>
                <a:t>mehr</a:t>
              </a:r>
              <a:r>
                <a:rPr sz="1100" b="0" i="0" dirty="0">
                  <a:solidFill>
                    <a:srgbClr val="5F5F5F"/>
                  </a:solidFill>
                  <a:latin typeface="Aptos"/>
                </a:rPr>
                <a:t> </a:t>
              </a:r>
              <a:r>
                <a:rPr sz="1100" b="0" i="0" dirty="0" err="1">
                  <a:solidFill>
                    <a:srgbClr val="5F5F5F"/>
                  </a:solidFill>
                  <a:latin typeface="Aptos"/>
                </a:rPr>
                <a:t>als</a:t>
              </a:r>
              <a:r>
                <a:rPr sz="1100" b="0" i="0" dirty="0">
                  <a:solidFill>
                    <a:srgbClr val="5F5F5F"/>
                  </a:solidFill>
                  <a:latin typeface="Aptos"/>
                </a:rPr>
                <a:t> 3 </a:t>
              </a:r>
              <a:r>
                <a:rPr sz="1100" b="0" i="0" dirty="0" err="1">
                  <a:solidFill>
                    <a:srgbClr val="5F5F5F"/>
                  </a:solidFill>
                  <a:latin typeface="Aptos"/>
                </a:rPr>
                <a:t>Dimensionen</a:t>
              </a:r>
              <a:r>
                <a:rPr sz="1100" b="0" i="0" dirty="0">
                  <a:solidFill>
                    <a:srgbClr val="5F5F5F"/>
                  </a:solidFill>
                  <a:latin typeface="Aptos"/>
                </a:rPr>
                <a:t> </a:t>
              </a:r>
              <a:r>
                <a:rPr sz="1100" b="0" i="0" dirty="0" err="1">
                  <a:solidFill>
                    <a:srgbClr val="5F5F5F"/>
                  </a:solidFill>
                  <a:latin typeface="Aptos"/>
                </a:rPr>
                <a:t>haben</a:t>
              </a:r>
              <a:r>
                <a:rPr sz="1100" b="0" i="0" dirty="0">
                  <a:solidFill>
                    <a:srgbClr val="5F5F5F"/>
                  </a:solidFill>
                  <a:latin typeface="Aptos"/>
                </a:rPr>
                <a:t>.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02920" y="3063240"/>
              <a:ext cx="3017520" cy="32004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800" b="1" i="0">
                  <a:solidFill>
                    <a:srgbClr val="232323"/>
                  </a:solidFill>
                  <a:latin typeface="Aptos"/>
                </a:rPr>
                <a:t>Data Frame (Tabelle)</a:t>
              </a:r>
            </a:p>
          </p:txBody>
        </p:sp>
        <p:cxnSp>
          <p:nvCxnSpPr>
            <p:cNvPr id="61" name="Connector 60"/>
            <p:cNvCxnSpPr/>
            <p:nvPr/>
          </p:nvCxnSpPr>
          <p:spPr>
            <a:xfrm>
              <a:off x="1188720" y="3383280"/>
              <a:ext cx="1691640" cy="0"/>
            </a:xfrm>
            <a:prstGeom prst="line">
              <a:avLst/>
            </a:prstGeom>
            <a:ln w="16510">
              <a:solidFill>
                <a:srgbClr val="376E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/>
            <p:cNvSpPr/>
            <p:nvPr/>
          </p:nvSpPr>
          <p:spPr>
            <a:xfrm>
              <a:off x="680990" y="3566160"/>
              <a:ext cx="777240" cy="384048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232323"/>
                  </a:solidFill>
                  <a:latin typeface="Aptos"/>
                </a:rPr>
                <a:t>ID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463040" y="3566160"/>
              <a:ext cx="868680" cy="384048"/>
            </a:xfrm>
            <a:prstGeom prst="rect">
              <a:avLst/>
            </a:prstGeom>
            <a:solidFill>
              <a:srgbClr val="F4CCCC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232323"/>
                  </a:solidFill>
                  <a:latin typeface="Aptos"/>
                </a:rPr>
                <a:t>Name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331720" y="3566160"/>
              <a:ext cx="914400" cy="384048"/>
            </a:xfrm>
            <a:prstGeom prst="rect">
              <a:avLst/>
            </a:prstGeom>
            <a:solidFill>
              <a:srgbClr val="D9EAD3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232323"/>
                  </a:solidFill>
                  <a:latin typeface="Aptos"/>
                </a:rPr>
                <a:t>Alter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80990" y="3950208"/>
              <a:ext cx="777240" cy="38404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>
                  <a:solidFill>
                    <a:srgbClr val="232323"/>
                  </a:solidFill>
                  <a:latin typeface="Aptos"/>
                </a:rPr>
                <a:t>1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463040" y="3950208"/>
              <a:ext cx="868680" cy="38404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>
                  <a:solidFill>
                    <a:srgbClr val="232323"/>
                  </a:solidFill>
                  <a:latin typeface="Aptos"/>
                </a:rPr>
                <a:t>Anna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331720" y="3950208"/>
              <a:ext cx="914400" cy="38404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>
                  <a:solidFill>
                    <a:srgbClr val="232323"/>
                  </a:solidFill>
                  <a:latin typeface="Aptos"/>
                </a:rPr>
                <a:t>25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80990" y="4334256"/>
              <a:ext cx="777240" cy="38404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>
                  <a:solidFill>
                    <a:srgbClr val="232323"/>
                  </a:solidFill>
                  <a:latin typeface="Aptos"/>
                </a:rPr>
                <a:t>2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463040" y="4334256"/>
              <a:ext cx="868680" cy="38404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>
                  <a:solidFill>
                    <a:srgbClr val="232323"/>
                  </a:solidFill>
                  <a:latin typeface="Aptos"/>
                </a:rPr>
                <a:t>Ben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31720" y="4334256"/>
              <a:ext cx="914400" cy="38404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>
                  <a:solidFill>
                    <a:srgbClr val="232323"/>
                  </a:solidFill>
                  <a:latin typeface="Aptos"/>
                </a:rPr>
                <a:t>32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80990" y="4718304"/>
              <a:ext cx="777240" cy="38404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>
                  <a:solidFill>
                    <a:srgbClr val="232323"/>
                  </a:solidFill>
                  <a:latin typeface="Aptos"/>
                </a:rPr>
                <a:t>3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463040" y="4718304"/>
              <a:ext cx="868680" cy="38404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dirty="0">
                  <a:solidFill>
                    <a:srgbClr val="232323"/>
                  </a:solidFill>
                  <a:latin typeface="Aptos"/>
                </a:rPr>
                <a:t>Clara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331720" y="4718304"/>
              <a:ext cx="914400" cy="38404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>
                  <a:solidFill>
                    <a:srgbClr val="232323"/>
                  </a:solidFill>
                  <a:latin typeface="Aptos"/>
                </a:rPr>
                <a:t>28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80990" y="5102352"/>
              <a:ext cx="777240" cy="38404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>
                  <a:solidFill>
                    <a:srgbClr val="232323"/>
                  </a:solidFill>
                  <a:latin typeface="Aptos"/>
                </a:rPr>
                <a:t>4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463040" y="5102352"/>
              <a:ext cx="868680" cy="38404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dirty="0">
                  <a:solidFill>
                    <a:srgbClr val="232323"/>
                  </a:solidFill>
                  <a:latin typeface="Aptos"/>
                </a:rPr>
                <a:t>Dave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2331720" y="5102352"/>
              <a:ext cx="914400" cy="38404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>
                  <a:solidFill>
                    <a:srgbClr val="232323"/>
                  </a:solidFill>
                  <a:latin typeface="Aptos"/>
                </a:rPr>
                <a:t>45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886200" y="4910328"/>
              <a:ext cx="457200" cy="6858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r"/>
              <a:r>
                <a:rPr sz="1000" b="0" i="1" dirty="0" err="1">
                  <a:solidFill>
                    <a:srgbClr val="1F4E79"/>
                  </a:solidFill>
                  <a:latin typeface="Aptos"/>
                </a:rPr>
                <a:t>Zeilen</a:t>
              </a:r>
              <a:r>
                <a:rPr sz="1000" b="0" i="1" dirty="0">
                  <a:solidFill>
                    <a:srgbClr val="1F4E79"/>
                  </a:solidFill>
                  <a:latin typeface="Aptos"/>
                </a:rPr>
                <a:t>
(</a:t>
              </a:r>
              <a:r>
                <a:rPr sz="1000" b="0" i="1" dirty="0" err="1">
                  <a:solidFill>
                    <a:srgbClr val="1F4E79"/>
                  </a:solidFill>
                  <a:latin typeface="Aptos"/>
                </a:rPr>
                <a:t>Beobachtungen</a:t>
              </a:r>
              <a:r>
                <a:rPr sz="1000" b="0" i="1" dirty="0">
                  <a:solidFill>
                    <a:srgbClr val="1F4E79"/>
                  </a:solidFill>
                  <a:latin typeface="Aptos"/>
                </a:rPr>
                <a:t>)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05840" y="5585300"/>
              <a:ext cx="1828800" cy="32004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100" b="0" i="1" dirty="0" err="1">
                  <a:solidFill>
                    <a:srgbClr val="1E783C"/>
                  </a:solidFill>
                  <a:latin typeface="Aptos"/>
                </a:rPr>
                <a:t>Spalten</a:t>
              </a:r>
              <a:r>
                <a:rPr sz="1100" b="0" i="1" dirty="0">
                  <a:solidFill>
                    <a:srgbClr val="1E783C"/>
                  </a:solidFill>
                  <a:latin typeface="Aptos"/>
                </a:rPr>
                <a:t> (</a:t>
              </a:r>
              <a:r>
                <a:rPr sz="1100" b="0" i="1" dirty="0" err="1">
                  <a:solidFill>
                    <a:srgbClr val="1E783C"/>
                  </a:solidFill>
                  <a:latin typeface="Aptos"/>
                </a:rPr>
                <a:t>Variablen</a:t>
              </a:r>
              <a:r>
                <a:rPr sz="1100" b="0" i="1" dirty="0">
                  <a:solidFill>
                    <a:srgbClr val="1E783C"/>
                  </a:solidFill>
                  <a:latin typeface="Aptos"/>
                </a:rPr>
                <a:t>)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02920" y="5806440"/>
              <a:ext cx="2834640" cy="32918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050" b="0" i="0">
                  <a:solidFill>
                    <a:srgbClr val="5F5F5F"/>
                  </a:solidFill>
                  <a:latin typeface="Aptos"/>
                </a:rPr>
                <a:t>Spalten dürfen unterschiedliche Datentypen haben.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103797" y="3099333"/>
              <a:ext cx="2834640" cy="32004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800" b="1" i="0">
                  <a:solidFill>
                    <a:srgbClr val="232323"/>
                  </a:solidFill>
                  <a:latin typeface="Aptos"/>
                </a:rPr>
                <a:t>Liste</a:t>
              </a:r>
            </a:p>
          </p:txBody>
        </p:sp>
        <p:cxnSp>
          <p:nvCxnSpPr>
            <p:cNvPr id="81" name="Connector 80"/>
            <p:cNvCxnSpPr/>
            <p:nvPr/>
          </p:nvCxnSpPr>
          <p:spPr>
            <a:xfrm>
              <a:off x="5606717" y="3419373"/>
              <a:ext cx="1234440" cy="0"/>
            </a:xfrm>
            <a:prstGeom prst="line">
              <a:avLst/>
            </a:prstGeom>
            <a:ln w="16510">
              <a:solidFill>
                <a:srgbClr val="376E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ctangle 81"/>
            <p:cNvSpPr/>
            <p:nvPr/>
          </p:nvSpPr>
          <p:spPr>
            <a:xfrm>
              <a:off x="4920917" y="3693693"/>
              <a:ext cx="310896" cy="310896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5268389" y="3693693"/>
              <a:ext cx="310896" cy="310896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5615861" y="3693693"/>
              <a:ext cx="310896" cy="310896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5963333" y="3693693"/>
              <a:ext cx="310896" cy="310896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5149517" y="4077741"/>
              <a:ext cx="914400" cy="256032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100" b="0" i="0">
                  <a:solidFill>
                    <a:srgbClr val="232323"/>
                  </a:solidFill>
                  <a:latin typeface="Aptos"/>
                </a:rPr>
                <a:t>Vektor</a:t>
              </a: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566837" y="3693693"/>
              <a:ext cx="310896" cy="310896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877733" y="3693693"/>
              <a:ext cx="310896" cy="310896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566837" y="4004589"/>
              <a:ext cx="310896" cy="310896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6877733" y="4004589"/>
              <a:ext cx="310896" cy="310896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566837" y="4388637"/>
              <a:ext cx="822960" cy="256032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100" b="0" i="0">
                  <a:solidFill>
                    <a:srgbClr val="232323"/>
                  </a:solidFill>
                  <a:latin typeface="Aptos"/>
                </a:rPr>
                <a:t>Matrix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7938437" y="3785132"/>
              <a:ext cx="384048" cy="384048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1">
                  <a:solidFill>
                    <a:srgbClr val="232323"/>
                  </a:solidFill>
                  <a:latin typeface="Aptos"/>
                </a:rPr>
                <a:t>7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7664117" y="4388637"/>
              <a:ext cx="1005840" cy="256032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050" b="0" i="0">
                  <a:solidFill>
                    <a:srgbClr val="232323"/>
                  </a:solidFill>
                  <a:latin typeface="Aptos"/>
                </a:rPr>
                <a:t>Vektor
Länge 1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852837" y="3693693"/>
              <a:ext cx="228600" cy="822960"/>
            </a:xfrm>
            <a:prstGeom prst="rect">
              <a:avLst/>
            </a:prstGeom>
            <a:solidFill>
              <a:srgbClr val="BED7EE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9081437" y="3693693"/>
              <a:ext cx="228600" cy="822960"/>
            </a:xfrm>
            <a:prstGeom prst="rect">
              <a:avLst/>
            </a:prstGeom>
            <a:solidFill>
              <a:srgbClr val="F4CCCC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9310037" y="3693693"/>
              <a:ext cx="228600" cy="822960"/>
            </a:xfrm>
            <a:prstGeom prst="rect">
              <a:avLst/>
            </a:prstGeom>
            <a:solidFill>
              <a:srgbClr val="D9EAD3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97" name="Connector 96"/>
            <p:cNvCxnSpPr/>
            <p:nvPr/>
          </p:nvCxnSpPr>
          <p:spPr>
            <a:xfrm>
              <a:off x="8852837" y="3899432"/>
              <a:ext cx="685800" cy="0"/>
            </a:xfrm>
            <a:prstGeom prst="line">
              <a:avLst/>
            </a:prstGeom>
            <a:ln w="7620">
              <a:solidFill>
                <a:srgbClr val="5F5F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8852837" y="4105173"/>
              <a:ext cx="685800" cy="0"/>
            </a:xfrm>
            <a:prstGeom prst="line">
              <a:avLst/>
            </a:prstGeom>
            <a:ln w="7620">
              <a:solidFill>
                <a:srgbClr val="5F5F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8852837" y="4310913"/>
              <a:ext cx="685800" cy="0"/>
            </a:xfrm>
            <a:prstGeom prst="line">
              <a:avLst/>
            </a:prstGeom>
            <a:ln w="7620">
              <a:solidFill>
                <a:srgbClr val="5F5F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/>
            <p:cNvSpPr txBox="1"/>
            <p:nvPr/>
          </p:nvSpPr>
          <p:spPr>
            <a:xfrm>
              <a:off x="8715677" y="4589805"/>
              <a:ext cx="1005840" cy="256032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100" b="0" i="0">
                  <a:solidFill>
                    <a:srgbClr val="232323"/>
                  </a:solidFill>
                  <a:latin typeface="Aptos"/>
                </a:rPr>
                <a:t>Data Frame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10361597" y="3693693"/>
              <a:ext cx="283464" cy="310896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10672493" y="3693693"/>
              <a:ext cx="283464" cy="310896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10983389" y="3693693"/>
              <a:ext cx="283464" cy="310896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1294284" y="3693693"/>
              <a:ext cx="283464" cy="310896"/>
            </a:xfrm>
            <a:prstGeom prst="rect">
              <a:avLst/>
            </a:prstGeom>
            <a:solidFill>
              <a:srgbClr val="DDEBF7"/>
            </a:solidFill>
            <a:ln w="15240">
              <a:solidFill>
                <a:srgbClr val="376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0315877" y="4077741"/>
              <a:ext cx="1371600" cy="256032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050" b="0" i="0">
                  <a:solidFill>
                    <a:srgbClr val="232323"/>
                  </a:solidFill>
                  <a:latin typeface="Aptos"/>
                </a:rPr>
                <a:t>weitere Elemente</a:t>
              </a:r>
            </a:p>
          </p:txBody>
        </p:sp>
        <p:cxnSp>
          <p:nvCxnSpPr>
            <p:cNvPr id="106" name="Connector 105"/>
            <p:cNvCxnSpPr/>
            <p:nvPr/>
          </p:nvCxnSpPr>
          <p:spPr>
            <a:xfrm>
              <a:off x="4692317" y="3647973"/>
              <a:ext cx="0" cy="1325880"/>
            </a:xfrm>
            <a:prstGeom prst="line">
              <a:avLst/>
            </a:prstGeom>
            <a:ln w="19050">
              <a:solidFill>
                <a:srgbClr val="1F4E7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or 106"/>
            <p:cNvCxnSpPr/>
            <p:nvPr/>
          </p:nvCxnSpPr>
          <p:spPr>
            <a:xfrm>
              <a:off x="4692317" y="3647973"/>
              <a:ext cx="182880" cy="0"/>
            </a:xfrm>
            <a:prstGeom prst="line">
              <a:avLst/>
            </a:prstGeom>
            <a:ln w="19050">
              <a:solidFill>
                <a:srgbClr val="1F4E7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or 107"/>
            <p:cNvCxnSpPr/>
            <p:nvPr/>
          </p:nvCxnSpPr>
          <p:spPr>
            <a:xfrm>
              <a:off x="4692317" y="4973853"/>
              <a:ext cx="182880" cy="0"/>
            </a:xfrm>
            <a:prstGeom prst="line">
              <a:avLst/>
            </a:prstGeom>
            <a:ln w="19050">
              <a:solidFill>
                <a:srgbClr val="1F4E7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or 108"/>
            <p:cNvCxnSpPr/>
            <p:nvPr/>
          </p:nvCxnSpPr>
          <p:spPr>
            <a:xfrm>
              <a:off x="11824637" y="3647973"/>
              <a:ext cx="0" cy="1325880"/>
            </a:xfrm>
            <a:prstGeom prst="line">
              <a:avLst/>
            </a:prstGeom>
            <a:ln w="19050">
              <a:solidFill>
                <a:srgbClr val="1F4E7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ctor 109"/>
            <p:cNvCxnSpPr/>
            <p:nvPr/>
          </p:nvCxnSpPr>
          <p:spPr>
            <a:xfrm>
              <a:off x="11641757" y="3647973"/>
              <a:ext cx="182880" cy="0"/>
            </a:xfrm>
            <a:prstGeom prst="line">
              <a:avLst/>
            </a:prstGeom>
            <a:ln w="19050">
              <a:solidFill>
                <a:srgbClr val="1F4E7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or 110"/>
            <p:cNvCxnSpPr/>
            <p:nvPr/>
          </p:nvCxnSpPr>
          <p:spPr>
            <a:xfrm>
              <a:off x="11641757" y="4973853"/>
              <a:ext cx="182880" cy="0"/>
            </a:xfrm>
            <a:prstGeom prst="line">
              <a:avLst/>
            </a:prstGeom>
            <a:ln w="19050">
              <a:solidFill>
                <a:srgbClr val="1F4E7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/>
            <p:cNvSpPr txBox="1"/>
            <p:nvPr/>
          </p:nvSpPr>
          <p:spPr>
            <a:xfrm>
              <a:off x="4920917" y="5019573"/>
              <a:ext cx="6675120" cy="475488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150" b="0" i="0">
                  <a:solidFill>
                    <a:srgbClr val="5F5F5F"/>
                  </a:solidFill>
                  <a:latin typeface="Aptos"/>
                </a:rPr>
                <a:t>Listen können Objekte unterschiedlicher Typen enthalten – auch verschachtelte Listen.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</Words>
  <Application>Microsoft Office PowerPoint</Application>
  <PresentationFormat>Breitbild</PresentationFormat>
  <Paragraphs>50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Navarro Bullock, Beate</dc:creator>
  <cp:keywords/>
  <dc:description>generated using python-pptx</dc:description>
  <cp:lastModifiedBy>Navarro Bullock, Beate</cp:lastModifiedBy>
  <cp:revision>3</cp:revision>
  <dcterms:created xsi:type="dcterms:W3CDTF">2013-01-27T09:14:16Z</dcterms:created>
  <dcterms:modified xsi:type="dcterms:W3CDTF">2026-09-30T10:51:07Z</dcterms:modified>
  <cp:category/>
</cp:coreProperties>
</file>